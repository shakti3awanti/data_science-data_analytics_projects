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8" autoAdjust="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2D3B7-0E4E-486F-8726-DABF896A5A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E5C62-2650-4184-81A6-734261A85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488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E5C62-2650-4184-81A6-734261A8574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61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55830"/>
            <a:ext cx="7772400" cy="1470025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Bike-sharing Rental Demand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2127" y="3291469"/>
            <a:ext cx="6400800" cy="17526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 06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[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Kavuri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10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1: [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Roshan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Zameer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10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2: [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Prashant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Bayye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3: [Payal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10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4: [Sangram Deshmukh]</a:t>
            </a:r>
          </a:p>
          <a:p>
            <a:pPr>
              <a:spcBef>
                <a:spcPts val="10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5: [Rohan Kandhare]</a:t>
            </a:r>
          </a:p>
          <a:p>
            <a:pPr>
              <a:spcBef>
                <a:spcPts val="10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6: [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Srishakti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Awanti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spcBef>
                <a:spcPts val="10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7: [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Chittuluru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Asrith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Sai]</a:t>
            </a:r>
          </a:p>
          <a:p>
            <a:pPr>
              <a:spcBef>
                <a:spcPts val="1000"/>
              </a:spcBef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8167" y="2232838"/>
            <a:ext cx="5901070" cy="1857153"/>
          </a:xfrm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hourly bike rental demand.</a:t>
            </a:r>
          </a:p>
          <a:p>
            <a:pPr>
              <a:spcBef>
                <a:spcPts val="10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urban city bike supply.</a:t>
            </a:r>
          </a:p>
          <a:p>
            <a:pPr>
              <a:spcBef>
                <a:spcPts val="10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customer waiting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0963" y="1726017"/>
            <a:ext cx="6142074" cy="3141921"/>
          </a:xfrm>
        </p:spPr>
        <p:txBody>
          <a:bodyPr wrap="square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UCI Bike Sharing Dataset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17,379 Hourly Records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Initial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Dictionary: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014" y="1600200"/>
            <a:ext cx="3887972" cy="4525963"/>
          </a:xfrm>
        </p:spPr>
        <p:txBody>
          <a:bodyPr wrap="square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instant: Index</a:t>
            </a:r>
          </a:p>
          <a:p>
            <a:pPr>
              <a:spcBef>
                <a:spcPts val="1000"/>
              </a:spcBef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dteday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Date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season: Seasonality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yr: Year</a:t>
            </a:r>
          </a:p>
          <a:p>
            <a:pPr>
              <a:spcBef>
                <a:spcPts val="1000"/>
              </a:spcBef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mnth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Dictionary: Weather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9409" y="1612607"/>
            <a:ext cx="4065181" cy="3382926"/>
          </a:xfrm>
        </p:spPr>
        <p:txBody>
          <a:bodyPr wrap="square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weathersit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Situation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temp: Temperature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hum: Humidity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windspeed: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EDA: Missing Value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9688" y="1760576"/>
            <a:ext cx="5624623" cy="1965250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'?' in weather metrics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11 entries in temp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6 in humidity/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atemp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2852"/>
            <a:ext cx="8229600" cy="718732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EDA: 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4893" y="2236381"/>
            <a:ext cx="6879265" cy="2845981"/>
          </a:xfrm>
        </p:spPr>
        <p:txBody>
          <a:bodyPr wrap="square">
            <a:normAutofit/>
          </a:bodyPr>
          <a:lstStyle/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 revealed high count outliers</a:t>
            </a:r>
          </a:p>
          <a:p>
            <a:pPr>
              <a:spcBef>
                <a:spcPts val="10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 as rush-hour peaks</a:t>
            </a:r>
          </a:p>
          <a:p>
            <a:pPr>
              <a:spcBef>
                <a:spcPts val="10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outliers to maintain real-world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7786" y="2280685"/>
            <a:ext cx="5702595" cy="3276600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Coerced numeric types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 DD-MM-YYYY dates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inconsistencies between casual/registered/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Inference: Demand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96220"/>
            <a:ext cx="4014439" cy="1983059"/>
          </a:xfrm>
        </p:spPr>
        <p:txBody>
          <a:bodyPr wrap="square">
            <a:normAutofit fontScale="70000" lnSpcReduction="2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target variable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hours are low-demand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peaks are rare but critical</a:t>
            </a:r>
          </a:p>
        </p:txBody>
      </p:sp>
      <p:pic>
        <p:nvPicPr>
          <p:cNvPr id="4" name="Picture 3" descr="dist_c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21" y="2086121"/>
            <a:ext cx="4284877" cy="26857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Inference: Hourly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331" y="1651590"/>
            <a:ext cx="4114800" cy="4054549"/>
          </a:xfrm>
        </p:spPr>
        <p:txBody>
          <a:bodyPr wrap="square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Peaks at 8 AM and 5-6 PM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Commuter-driven behavior dominates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should focus on these slots</a:t>
            </a:r>
          </a:p>
        </p:txBody>
      </p:sp>
      <p:pic>
        <p:nvPicPr>
          <p:cNvPr id="4" name="Picture 3" descr="hour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795" y="2006008"/>
            <a:ext cx="4387703" cy="33457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Inference: Seasonal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669" y="1931018"/>
            <a:ext cx="3174380" cy="2618680"/>
          </a:xfrm>
        </p:spPr>
        <p:txBody>
          <a:bodyPr wrap="square">
            <a:normAutofit fontScale="62500" lnSpcReduction="2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shows highest bike demand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has significantly lower demand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should target transition seasons</a:t>
            </a:r>
          </a:p>
        </p:txBody>
      </p:sp>
      <p:pic>
        <p:nvPicPr>
          <p:cNvPr id="4" name="Picture 3" descr="seasonal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966" y="1668967"/>
            <a:ext cx="5123365" cy="30740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Inference: Weather 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03" y="2473286"/>
            <a:ext cx="3159512" cy="2455553"/>
          </a:xfrm>
        </p:spPr>
        <p:txBody>
          <a:bodyPr wrap="square">
            <a:normAutofit fontScale="70000" lnSpcReduction="2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weather = Maximum rentals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rain = Minimal rentals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is highly weather-elastic</a:t>
            </a:r>
          </a:p>
        </p:txBody>
      </p:sp>
      <p:pic>
        <p:nvPicPr>
          <p:cNvPr id="4" name="Picture 3" descr="weather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678" y="2248830"/>
            <a:ext cx="5055219" cy="31483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Inference: Temperature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03" y="2106758"/>
            <a:ext cx="4007004" cy="3211553"/>
          </a:xfrm>
        </p:spPr>
        <p:txBody>
          <a:bodyPr wrap="square">
            <a:normAutofit fontScale="92500"/>
          </a:bodyPr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 with rentals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riding temp: 0.6-0.8 range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weather reduces casual ridership</a:t>
            </a:r>
          </a:p>
        </p:txBody>
      </p:sp>
      <p:pic>
        <p:nvPicPr>
          <p:cNvPr id="4" name="Picture 3" descr="temp_v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1587190"/>
            <a:ext cx="440844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742" y="2278565"/>
            <a:ext cx="2516458" cy="2300869"/>
          </a:xfrm>
        </p:spPr>
        <p:txBody>
          <a:bodyPr wrap="square">
            <a:normAutofit/>
          </a:bodyPr>
          <a:lstStyle/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consistent demand on workdays</a:t>
            </a:r>
          </a:p>
          <a:p>
            <a:pPr>
              <a:spcBef>
                <a:spcPts val="10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patterns for holidays vs workdays</a:t>
            </a:r>
          </a:p>
          <a:p>
            <a:pPr>
              <a:spcBef>
                <a:spcPts val="10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must be dynamic</a:t>
            </a:r>
          </a:p>
        </p:txBody>
      </p:sp>
      <p:pic>
        <p:nvPicPr>
          <p:cNvPr id="4" name="Picture 3" descr="workingday_holi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683" y="1903140"/>
            <a:ext cx="6145561" cy="36873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Cyclic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3502" y="1967026"/>
            <a:ext cx="6616995" cy="1986515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 mapped to Sin/Cos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mapped to Sin/Cos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circular time relationships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8804" y="1995379"/>
            <a:ext cx="5766391" cy="2213344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for Season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for Weather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non-ordinal treatment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883" y="2167270"/>
            <a:ext cx="6716233" cy="2000692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Min-Max Scaler for weather data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range: 0 to 1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uniform feature contribution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652" y="1348545"/>
            <a:ext cx="3536388" cy="4160910"/>
          </a:xfrm>
        </p:spPr>
        <p:txBody>
          <a:bodyPr wrap="square">
            <a:normAutofit fontScale="92500" lnSpcReduction="2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&amp;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Atemp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highly correlated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negatively impacts demand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 is the strongest temporal feature</a:t>
            </a:r>
          </a:p>
        </p:txBody>
      </p:sp>
      <p:pic>
        <p:nvPicPr>
          <p:cNvPr id="4" name="Picture 3" descr="correlation_matrix_proce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540" y="1609061"/>
            <a:ext cx="4554946" cy="37957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981" y="1623237"/>
            <a:ext cx="8229600" cy="4416056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three core algorithms: Decision Tree, Random Forest, and Gradient Boosting.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Identify the model with the highest generalization power.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80/20 train-test split with random state for reproducibility.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Focus: R-squared (Accuracy) and MAE (Average Error).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Analysis: Why Others Were Rejected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9" y="1984724"/>
            <a:ext cx="4114800" cy="3345732"/>
          </a:xfrm>
        </p:spPr>
        <p:txBody>
          <a:bodyPr wrap="square">
            <a:normAutofit fontScale="55000" lnSpcReduction="2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(R2: 0.88): Overfitted the training data too easily. High variance led to unreliable predictions for unseen peaks.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(R2: 0.88): Showed high sensitivity to noise in the dataset, resulting in the highest Average Error (MAE 42).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failed to capture the complex, non-linear interactions as effectively as the ensemble method.</a:t>
            </a:r>
          </a:p>
        </p:txBody>
      </p:sp>
      <p:pic>
        <p:nvPicPr>
          <p:cNvPr id="4" name="Picture 3" descr="model_comparison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381" y="1789814"/>
            <a:ext cx="4330996" cy="39730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Winner: Random Forest (R2: 0.94)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5121"/>
            <a:ext cx="8229600" cy="3864935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Advantage: Combines multiple trees to cancel out individual prediction errors (Bagging).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 Handles skewed distributions and outliers (peak hours) without losing accuracy.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Achieved the lowest error and highest precision in demand forecasting.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183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8563" y="2095500"/>
            <a:ext cx="6446874" cy="2114107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Randomized Search CV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Depth and Estimators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is robust to overfitting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944" y="1807534"/>
            <a:ext cx="3958856" cy="3544187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 is the top driver (60%+)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is the second major driver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Yearly growth is significant</a:t>
            </a:r>
          </a:p>
        </p:txBody>
      </p:sp>
      <p:pic>
        <p:nvPicPr>
          <p:cNvPr id="4" name="Picture 3" descr="top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56" y="1605516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1586" y="2004238"/>
            <a:ext cx="5560828" cy="3078126"/>
          </a:xfrm>
        </p:spPr>
        <p:txBody>
          <a:bodyPr wrap="square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MAE: ~25 rentals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~43 rentals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R-squared: 0.94 (Excellent fit)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462" y="1820789"/>
            <a:ext cx="2902687" cy="4594188"/>
          </a:xfrm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follow actual values closely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across all demand levels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error for peak hours</a:t>
            </a:r>
          </a:p>
        </p:txBody>
      </p:sp>
      <p:pic>
        <p:nvPicPr>
          <p:cNvPr id="4" name="Picture 3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457" y="1760715"/>
            <a:ext cx="5100082" cy="41580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4759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App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604" y="2365746"/>
            <a:ext cx="6489405" cy="1972340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integrated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user inputs supported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demand forecasting rendered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457" y="2296633"/>
            <a:ext cx="5993217" cy="3182680"/>
          </a:xfrm>
        </p:spPr>
        <p:txBody>
          <a:bodyPr wrap="square"/>
          <a:lstStyle/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of hidden '?' values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cyclic nature of time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ensemble weights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high-dimensional categorical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172" y="924997"/>
            <a:ext cx="8229600" cy="752297"/>
          </a:xfrm>
        </p:spPr>
        <p:txBody>
          <a:bodyPr>
            <a:noAutofit/>
          </a:bodyPr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72" y="2250560"/>
            <a:ext cx="8229600" cy="2978888"/>
          </a:xfrm>
        </p:spPr>
        <p:txBody>
          <a:bodyPr wrap="square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models enable better supply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and Time are critical for city planning</a:t>
            </a:r>
          </a:p>
          <a:p>
            <a:pPr>
              <a:spcBef>
                <a:spcPts val="10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approach for other cities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520" y="742470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1971" y="2615609"/>
            <a:ext cx="5670699" cy="71592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the opportunity!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703</Words>
  <Application>Microsoft Office PowerPoint</Application>
  <PresentationFormat>On-screen Show (4:3)</PresentationFormat>
  <Paragraphs>145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Times New Roman</vt:lpstr>
      <vt:lpstr>Office Theme</vt:lpstr>
      <vt:lpstr>Bike-sharing Rental Demand Prediction</vt:lpstr>
      <vt:lpstr>Team Information</vt:lpstr>
      <vt:lpstr>Objective</vt:lpstr>
      <vt:lpstr>Dataset Details</vt:lpstr>
      <vt:lpstr>Data Dictionary: Time</vt:lpstr>
      <vt:lpstr>Data Dictionary: Weather</vt:lpstr>
      <vt:lpstr>EDA: Missing Value Detection</vt:lpstr>
      <vt:lpstr>EDA: Outlier Detection</vt:lpstr>
      <vt:lpstr>Data Cleaning Summary</vt:lpstr>
      <vt:lpstr>Inference: Demand Distribution</vt:lpstr>
      <vt:lpstr>Inference: Hourly Trends</vt:lpstr>
      <vt:lpstr>Inference: Seasonal Impact</vt:lpstr>
      <vt:lpstr>Inference: Weather Sit</vt:lpstr>
      <vt:lpstr>Inference: Temperature Influence</vt:lpstr>
      <vt:lpstr>Inference: Working Days</vt:lpstr>
      <vt:lpstr>Feature Engineering: Cyclic</vt:lpstr>
      <vt:lpstr>Feature Engineering: Encoding</vt:lpstr>
      <vt:lpstr>Feature Engineering: Scaling</vt:lpstr>
      <vt:lpstr>Correlation Insights</vt:lpstr>
      <vt:lpstr>Model Selection Strategy</vt:lpstr>
      <vt:lpstr>Analysis: Why Others Were Rejected</vt:lpstr>
      <vt:lpstr>The Winner: Random Forest (R2: 0.94)</vt:lpstr>
      <vt:lpstr>Hyperparameter Tuning</vt:lpstr>
      <vt:lpstr>Feature Importance</vt:lpstr>
      <vt:lpstr>Final Model Evaluation</vt:lpstr>
      <vt:lpstr>Prediction Performance</vt:lpstr>
      <vt:lpstr>Deployment: App Page</vt:lpstr>
      <vt:lpstr>Challenges Faced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Sangram Deshmukh</dc:creator>
  <cp:keywords/>
  <dc:description>generated using python-pptx</dc:description>
  <cp:lastModifiedBy>31v9o</cp:lastModifiedBy>
  <cp:revision>4</cp:revision>
  <dcterms:created xsi:type="dcterms:W3CDTF">2013-01-27T09:14:16Z</dcterms:created>
  <dcterms:modified xsi:type="dcterms:W3CDTF">2026-02-16T10:36:01Z</dcterms:modified>
  <cp:category/>
</cp:coreProperties>
</file>